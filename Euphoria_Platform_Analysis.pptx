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22673607200-164d1b6ce486" ContentType="image/photo-1522673607200-164d1b6ce486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hoto-1522673607200-164d1b6ce486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8B225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C94B7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8B225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C94B7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48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PLATFORM ANALYSIS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Euphoria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87FA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Surprise &amp; Event Planning Platform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89AAA"/>
                </a:solidFill>
              </a:rPr>
              <a:t>Where Every Moment Becomes a Memory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828800" cy="1005840"/>
          </a:xfrm>
          <a:prstGeom prst="rect">
            <a:avLst/>
          </a:prstGeom>
          <a:solidFill>
            <a:srgbClr val="8B2252">
              <a:alpha val="50000"/>
            </a:srgbClr>
          </a:solidFill>
          <a:ln w="6350">
            <a:solidFill>
              <a:srgbClr val="C94B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4279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FAD"/>
                </a:solidFill>
              </a:rPr>
              <a:t>Occasions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3749040"/>
            <a:ext cx="1828800" cy="1005840"/>
          </a:xfrm>
          <a:prstGeom prst="rect">
            <a:avLst/>
          </a:prstGeom>
          <a:solidFill>
            <a:srgbClr val="8B2252">
              <a:alpha val="50000"/>
            </a:srgbClr>
          </a:solidFill>
          <a:ln w="6350">
            <a:solidFill>
              <a:srgbClr val="C94B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4279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FAD"/>
                </a:solidFill>
              </a:rPr>
              <a:t>Cities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1828800" cy="1005840"/>
          </a:xfrm>
          <a:prstGeom prst="rect">
            <a:avLst/>
          </a:prstGeom>
          <a:solidFill>
            <a:srgbClr val="8B2252">
              <a:alpha val="50000"/>
            </a:srgbClr>
          </a:solidFill>
          <a:ln w="6350">
            <a:solidFill>
              <a:srgbClr val="C94B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4279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FAD"/>
                </a:solidFill>
              </a:rPr>
              <a:t>Specialists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3749040"/>
            <a:ext cx="1828800" cy="1005840"/>
          </a:xfrm>
          <a:prstGeom prst="rect">
            <a:avLst/>
          </a:prstGeom>
          <a:solidFill>
            <a:srgbClr val="8B2252">
              <a:alpha val="50000"/>
            </a:srgbClr>
          </a:solidFill>
          <a:ln w="6350">
            <a:solidFill>
              <a:srgbClr val="C94B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675120" y="4279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FAD"/>
                </a:solidFill>
              </a:rPr>
              <a:t>Events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4800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AAA"/>
                </a:solidFill>
              </a:rPr>
              <a:t>nascoders-event-platform.vercel.app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4B7B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FAD"/>
                </a:solidFill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Euphoria?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5868"/>
                </a:solidFill>
              </a:rPr>
              <a:t>A human-first celebration platform that removes the stress of surprise planning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03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527048"/>
            <a:ext cx="502920" cy="502920"/>
          </a:xfrm>
          <a:prstGeom prst="ellipse">
            <a:avLst/>
          </a:prstGeom>
          <a:solidFill>
            <a:srgbClr val="C94B7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58191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898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2"/>
                </a:solidFill>
              </a:rPr>
              <a:t>Human-first planning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16642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68"/>
                </a:solidFill>
              </a:rPr>
              <a:t>Euphoria handles vendor coordination, timelines, and absolute secrecy — so clients stay fully present in the magic of the moment.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5303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2715768"/>
            <a:ext cx="502920" cy="502920"/>
          </a:xfrm>
          <a:prstGeom prst="ellipse">
            <a:avLst/>
          </a:prstGeom>
          <a:solidFill>
            <a:srgbClr val="C94B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7706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5786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2"/>
                </a:solidFill>
              </a:rPr>
              <a:t>Real-time budget planner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80160" y="28529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68"/>
                </a:solidFill>
              </a:rPr>
              <a:t>Select destination + occasion to configure vendors and get an instant baseline quote. Concierge team custom-engineers the final plan.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303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3904488"/>
            <a:ext cx="502920" cy="502920"/>
          </a:xfrm>
          <a:prstGeom prst="ellipse">
            <a:avLst/>
          </a:prstGeom>
          <a:solidFill>
            <a:srgbClr val="C94B7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95935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7673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12"/>
                </a:solidFill>
              </a:rPr>
              <a:t>VIP giveaway program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80160" y="40416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68"/>
                </a:solidFill>
              </a:rPr>
              <a:t>Every 50 bookings, one client wins a fully-funded premium surprise event. Live milestone counter keeps the community engaged.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17920" y="914400"/>
            <a:ext cx="2651760" cy="3749040"/>
          </a:xfrm>
          <a:prstGeom prst="rect">
            <a:avLst/>
          </a:prstGeom>
          <a:solidFill>
            <a:srgbClr val="FAE8F0"/>
          </a:solidFill>
          <a:ln/>
        </p:spPr>
      </p:sp>
      <p:pic>
        <p:nvPicPr>
          <p:cNvPr id="22" name="Image 3" descr="https://images.unsplash.com/photo-1522673607200-164d1b6ce486?q=80&amp;w=600&amp;auto=format&amp;fit=crop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914400"/>
            <a:ext cx="2651760" cy="37490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217920" y="914400"/>
            <a:ext cx="2651760" cy="3749040"/>
          </a:xfrm>
          <a:prstGeom prst="rect">
            <a:avLst/>
          </a:prstGeom>
          <a:solidFill>
            <a:srgbClr val="8B2252">
              <a:alpha val="6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6263640" y="32004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bring the human touch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to celebrating."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8B2252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B7B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Signature Occasions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7FAD"/>
                </a:solidFill>
              </a:rPr>
              <a:t>Every milestone, every emotion — we've crafted an experience for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298448" cy="1371600"/>
          </a:xfrm>
          <a:prstGeom prst="rect">
            <a:avLst/>
          </a:prstGeom>
          <a:solidFill>
            <a:srgbClr val="C94B7B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417320"/>
            <a:ext cx="457200" cy="457200"/>
          </a:xfrm>
          <a:prstGeom prst="ellipse">
            <a:avLst/>
          </a:prstGeom>
          <a:solidFill>
            <a:srgbClr val="C94B7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4630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574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Birthday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20240" y="1234440"/>
            <a:ext cx="1298448" cy="1371600"/>
          </a:xfrm>
          <a:prstGeom prst="rect">
            <a:avLst/>
          </a:prstGeom>
          <a:solidFill>
            <a:srgbClr val="A0336E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40864" y="1417320"/>
            <a:ext cx="457200" cy="457200"/>
          </a:xfrm>
          <a:prstGeom prst="ellipse">
            <a:avLst/>
          </a:prstGeom>
          <a:solidFill>
            <a:srgbClr val="A033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46304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20574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Anniversary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83280" y="1234440"/>
            <a:ext cx="1298448" cy="1371600"/>
          </a:xfrm>
          <a:prstGeom prst="rect">
            <a:avLst/>
          </a:prstGeom>
          <a:solidFill>
            <a:srgbClr val="C4883A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803904" y="1417320"/>
            <a:ext cx="457200" cy="457200"/>
          </a:xfrm>
          <a:prstGeom prst="ellipse">
            <a:avLst/>
          </a:prstGeom>
          <a:solidFill>
            <a:srgbClr val="C488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14630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83280" y="20574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Marriage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46320" y="1234440"/>
            <a:ext cx="1298448" cy="1371600"/>
          </a:xfrm>
          <a:prstGeom prst="rect">
            <a:avLst/>
          </a:prstGeom>
          <a:solidFill>
            <a:srgbClr val="B5520D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266944" y="1417320"/>
            <a:ext cx="457200" cy="457200"/>
          </a:xfrm>
          <a:prstGeom prst="ellipse">
            <a:avLst/>
          </a:prstGeom>
          <a:solidFill>
            <a:srgbClr val="B5520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146304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46320" y="20574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Proposal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1234440"/>
            <a:ext cx="1298448" cy="1371600"/>
          </a:xfrm>
          <a:prstGeom prst="rect">
            <a:avLst/>
          </a:prstGeom>
          <a:solidFill>
            <a:srgbClr val="0E6E59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729984" y="1417320"/>
            <a:ext cx="457200" cy="457200"/>
          </a:xfrm>
          <a:prstGeom prst="ellipse">
            <a:avLst/>
          </a:prstGeom>
          <a:solidFill>
            <a:srgbClr val="0E6E59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146304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09360" y="20574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Graduation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772400" y="1234440"/>
            <a:ext cx="1298448" cy="1371600"/>
          </a:xfrm>
          <a:prstGeom prst="rect">
            <a:avLst/>
          </a:prstGeom>
          <a:solidFill>
            <a:srgbClr val="882255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193024" y="1417320"/>
            <a:ext cx="457200" cy="457200"/>
          </a:xfrm>
          <a:prstGeom prst="ellipse">
            <a:avLst/>
          </a:prstGeom>
          <a:solidFill>
            <a:srgbClr val="882255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146304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772400" y="20574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Romantic Date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57200" y="2834640"/>
            <a:ext cx="1298448" cy="1371600"/>
          </a:xfrm>
          <a:prstGeom prst="rect">
            <a:avLst/>
          </a:prstGeom>
          <a:solidFill>
            <a:srgbClr val="7A4F00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77824" y="3017520"/>
            <a:ext cx="457200" cy="457200"/>
          </a:xfrm>
          <a:prstGeom prst="ellipse">
            <a:avLst/>
          </a:prstGeom>
          <a:solidFill>
            <a:srgbClr val="7A4F00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3063240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57200" y="3657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Engagement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1920240" y="2834640"/>
            <a:ext cx="1298448" cy="1371600"/>
          </a:xfrm>
          <a:prstGeom prst="rect">
            <a:avLst/>
          </a:prstGeom>
          <a:solidFill>
            <a:srgbClr val="4B6E3A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2340864" y="3017520"/>
            <a:ext cx="457200" cy="457200"/>
          </a:xfrm>
          <a:prstGeom prst="ellipse">
            <a:avLst/>
          </a:prstGeom>
          <a:solidFill>
            <a:srgbClr val="4B6E3A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5728" y="3063240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920240" y="3657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Retirement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3383280" y="2834640"/>
            <a:ext cx="1298448" cy="1371600"/>
          </a:xfrm>
          <a:prstGeom prst="rect">
            <a:avLst/>
          </a:prstGeom>
          <a:solidFill>
            <a:srgbClr val="1A5A82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3803904" y="3017520"/>
            <a:ext cx="457200" cy="457200"/>
          </a:xfrm>
          <a:prstGeom prst="ellipse">
            <a:avLst/>
          </a:prstGeom>
          <a:solidFill>
            <a:srgbClr val="1A5A82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8768" y="3063240"/>
            <a:ext cx="347472" cy="34747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3383280" y="3657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Reunion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4846320" y="2834640"/>
            <a:ext cx="1298448" cy="1371600"/>
          </a:xfrm>
          <a:prstGeom prst="rect">
            <a:avLst/>
          </a:prstGeom>
          <a:solidFill>
            <a:srgbClr val="4A4080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5266944" y="3017520"/>
            <a:ext cx="457200" cy="457200"/>
          </a:xfrm>
          <a:prstGeom prst="ellipse">
            <a:avLst/>
          </a:prstGeom>
          <a:solidFill>
            <a:srgbClr val="4A4080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808" y="3063240"/>
            <a:ext cx="347472" cy="347472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846320" y="3657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Farewell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6309360" y="2834640"/>
            <a:ext cx="1298448" cy="1371600"/>
          </a:xfrm>
          <a:prstGeom prst="rect">
            <a:avLst/>
          </a:prstGeom>
          <a:solidFill>
            <a:srgbClr val="8B4040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6729984" y="3017520"/>
            <a:ext cx="457200" cy="457200"/>
          </a:xfrm>
          <a:prstGeom prst="ellipse">
            <a:avLst/>
          </a:prstGeom>
          <a:solidFill>
            <a:srgbClr val="8B4040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4848" y="3063240"/>
            <a:ext cx="347472" cy="347472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309360" y="3657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Apology</a:t>
            </a:r>
            <a:endParaRPr lang="en-US" sz="1050" dirty="0"/>
          </a:p>
        </p:txBody>
      </p:sp>
      <p:sp>
        <p:nvSpPr>
          <p:cNvPr id="50" name="Shape 37"/>
          <p:cNvSpPr/>
          <p:nvPr/>
        </p:nvSpPr>
        <p:spPr>
          <a:xfrm>
            <a:off x="7772400" y="2834640"/>
            <a:ext cx="1298448" cy="1371600"/>
          </a:xfrm>
          <a:prstGeom prst="rect">
            <a:avLst/>
          </a:prstGeom>
          <a:solidFill>
            <a:srgbClr val="5C3070">
              <a:alpha val="3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8193024" y="3017520"/>
            <a:ext cx="457200" cy="457200"/>
          </a:xfrm>
          <a:prstGeom prst="ellipse">
            <a:avLst/>
          </a:prstGeom>
          <a:solidFill>
            <a:srgbClr val="5C3070"/>
          </a:solidFill>
          <a:ln/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7888" y="3063240"/>
            <a:ext cx="347472" cy="347472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7772400" y="3657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1-Hr Surprise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88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883A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Coverage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868"/>
                </a:solidFill>
              </a:rPr>
              <a:t>10 Indian cities + international destination events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572768" cy="658368"/>
          </a:xfrm>
          <a:prstGeom prst="rect">
            <a:avLst/>
          </a:prstGeom>
          <a:solidFill>
            <a:srgbClr val="C94B7B"/>
          </a:solidFill>
          <a:ln w="6350">
            <a:solidFill>
              <a:srgbClr val="C94B7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Bengaluru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1554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0E0"/>
                </a:solidFill>
              </a:rPr>
              <a:t>HQ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48840" y="1188720"/>
            <a:ext cx="1572768" cy="658368"/>
          </a:xfrm>
          <a:prstGeom prst="rect">
            <a:avLst/>
          </a:prstGeom>
          <a:solidFill>
            <a:srgbClr val="FAE8F0"/>
          </a:solidFill>
          <a:ln w="6350">
            <a:solidFill>
              <a:srgbClr val="E8D0D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3716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32888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2"/>
                </a:solidFill>
              </a:rPr>
              <a:t>Mumbai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32888" y="1554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868"/>
                </a:solidFill>
              </a:rPr>
              <a:t>Metro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840480" y="1188720"/>
            <a:ext cx="1572768" cy="658368"/>
          </a:xfrm>
          <a:prstGeom prst="rect">
            <a:avLst/>
          </a:prstGeom>
          <a:solidFill>
            <a:srgbClr val="FAE8F0"/>
          </a:solidFill>
          <a:ln w="6350">
            <a:solidFill>
              <a:srgbClr val="E8D0D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37160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24528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2"/>
                </a:solidFill>
              </a:rPr>
              <a:t>Delhi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224528" y="1554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868"/>
                </a:solidFill>
              </a:rPr>
              <a:t>Metro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532120" y="1188720"/>
            <a:ext cx="1572768" cy="658368"/>
          </a:xfrm>
          <a:prstGeom prst="rect">
            <a:avLst/>
          </a:prstGeom>
          <a:solidFill>
            <a:srgbClr val="FAE8F0"/>
          </a:solidFill>
          <a:ln w="6350">
            <a:solidFill>
              <a:srgbClr val="E8D0D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7160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16168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2"/>
                </a:solidFill>
              </a:rPr>
              <a:t>Hyderabad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16168" y="1554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868"/>
                </a:solidFill>
              </a:rPr>
              <a:t>Metro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223760" y="1188720"/>
            <a:ext cx="1572768" cy="658368"/>
          </a:xfrm>
          <a:prstGeom prst="rect">
            <a:avLst/>
          </a:prstGeom>
          <a:solidFill>
            <a:srgbClr val="FAE8F0"/>
          </a:solidFill>
          <a:ln w="6350">
            <a:solidFill>
              <a:srgbClr val="E8D0D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371600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07808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2"/>
                </a:solidFill>
              </a:rPr>
              <a:t>Chennai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607808" y="1554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868"/>
                </a:solidFill>
              </a:rPr>
              <a:t>Metro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57200" y="2011680"/>
            <a:ext cx="1572768" cy="658368"/>
          </a:xfrm>
          <a:prstGeom prst="rect">
            <a:avLst/>
          </a:prstGeom>
          <a:solidFill>
            <a:srgbClr val="FAE8F0"/>
          </a:solidFill>
          <a:ln w="6350">
            <a:solidFill>
              <a:srgbClr val="E8D0DC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194560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1248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2"/>
                </a:solidFill>
              </a:rPr>
              <a:t>Kolkata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841248" y="2377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868"/>
                </a:solidFill>
              </a:rPr>
              <a:t>Metro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2148840" y="2011680"/>
            <a:ext cx="1572768" cy="658368"/>
          </a:xfrm>
          <a:prstGeom prst="rect">
            <a:avLst/>
          </a:prstGeom>
          <a:solidFill>
            <a:srgbClr val="FAE8F0"/>
          </a:solidFill>
          <a:ln w="6350">
            <a:solidFill>
              <a:srgbClr val="E8D0DC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0280" y="2194560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532888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2"/>
                </a:solidFill>
              </a:rPr>
              <a:t>Pune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2532888" y="2377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868"/>
                </a:solidFill>
              </a:rPr>
              <a:t>City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3840480" y="2011680"/>
            <a:ext cx="1572768" cy="658368"/>
          </a:xfrm>
          <a:prstGeom prst="rect">
            <a:avLst/>
          </a:prstGeom>
          <a:solidFill>
            <a:srgbClr val="F5E0B8"/>
          </a:solidFill>
          <a:ln w="6350">
            <a:solidFill>
              <a:srgbClr val="E8D0DC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0" y="2194560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224528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2"/>
                </a:solidFill>
              </a:rPr>
              <a:t>Goa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4224528" y="2377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868"/>
                </a:solidFill>
              </a:rPr>
              <a:t>Leisure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5532120" y="2011680"/>
            <a:ext cx="1572768" cy="658368"/>
          </a:xfrm>
          <a:prstGeom prst="rect">
            <a:avLst/>
          </a:prstGeom>
          <a:solidFill>
            <a:srgbClr val="F5E0B8"/>
          </a:solidFill>
          <a:ln w="6350">
            <a:solidFill>
              <a:srgbClr val="E8D0DC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2194560"/>
            <a:ext cx="256032" cy="2560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916168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2"/>
                </a:solidFill>
              </a:rPr>
              <a:t>Jaipur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5916168" y="2377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868"/>
                </a:solidFill>
              </a:rPr>
              <a:t>Leisure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7223760" y="2011680"/>
            <a:ext cx="1572768" cy="658368"/>
          </a:xfrm>
          <a:prstGeom prst="rect">
            <a:avLst/>
          </a:prstGeom>
          <a:solidFill>
            <a:srgbClr val="F5E0B8"/>
          </a:solidFill>
          <a:ln w="6350">
            <a:solidFill>
              <a:srgbClr val="E8D0DC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2194560"/>
            <a:ext cx="256032" cy="25603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607808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12"/>
                </a:solidFill>
              </a:rPr>
              <a:t>Udaipur</a:t>
            </a:r>
            <a:endParaRPr lang="en-US" sz="1200" dirty="0"/>
          </a:p>
        </p:txBody>
      </p:sp>
      <p:sp>
        <p:nvSpPr>
          <p:cNvPr id="45" name="Text 33"/>
          <p:cNvSpPr/>
          <p:nvPr/>
        </p:nvSpPr>
        <p:spPr>
          <a:xfrm>
            <a:off x="7607808" y="2377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5868"/>
                </a:solidFill>
              </a:rPr>
              <a:t>Luxury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457200" y="2880360"/>
            <a:ext cx="3657600" cy="658368"/>
          </a:xfrm>
          <a:prstGeom prst="rect">
            <a:avLst/>
          </a:prstGeom>
          <a:solidFill>
            <a:srgbClr val="0E6E59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" y="3044952"/>
            <a:ext cx="292608" cy="29260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96012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International / Destination Events</a:t>
            </a:r>
            <a:endParaRPr lang="en-US" sz="1200" dirty="0"/>
          </a:p>
        </p:txBody>
      </p:sp>
      <p:sp>
        <p:nvSpPr>
          <p:cNvPr id="49" name="Text 36"/>
          <p:cNvSpPr/>
          <p:nvPr/>
        </p:nvSpPr>
        <p:spPr>
          <a:xfrm>
            <a:off x="960120" y="3200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DD0"/>
                </a:solidFill>
              </a:rPr>
              <a:t>Custom-engineered experiences anywhere in the world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6217920" y="1005840"/>
            <a:ext cx="2651760" cy="3749040"/>
          </a:xfrm>
          <a:prstGeom prst="rect">
            <a:avLst/>
          </a:prstGeom>
          <a:solidFill>
            <a:srgbClr val="FAE8F0"/>
          </a:solidFill>
          <a:ln w="6350">
            <a:solidFill>
              <a:srgbClr val="E8D0DC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63093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52" name="Text 39"/>
          <p:cNvSpPr/>
          <p:nvPr/>
        </p:nvSpPr>
        <p:spPr>
          <a:xfrm>
            <a:off x="64008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868"/>
                </a:solidFill>
              </a:rPr>
              <a:t>Headquarters</a:t>
            </a:r>
            <a:endParaRPr lang="en-US" sz="1100" dirty="0"/>
          </a:p>
        </p:txBody>
      </p:sp>
      <p:sp>
        <p:nvSpPr>
          <p:cNvPr id="53" name="Text 40"/>
          <p:cNvSpPr/>
          <p:nvPr/>
        </p:nvSpPr>
        <p:spPr>
          <a:xfrm>
            <a:off x="630936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12"/>
                </a:solidFill>
              </a:rPr>
              <a:t>100 Celebration Avenue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0A12"/>
                </a:solidFill>
              </a:rPr>
              <a:t>Bengaluru, KA 560001</a:t>
            </a:r>
            <a:endParaRPr lang="en-US" sz="1100" dirty="0"/>
          </a:p>
        </p:txBody>
      </p:sp>
      <p:sp>
        <p:nvSpPr>
          <p:cNvPr id="54" name="Shape 41"/>
          <p:cNvSpPr/>
          <p:nvPr/>
        </p:nvSpPr>
        <p:spPr>
          <a:xfrm>
            <a:off x="6309360" y="2148840"/>
            <a:ext cx="2468880" cy="0"/>
          </a:xfrm>
          <a:prstGeom prst="line">
            <a:avLst/>
          </a:prstGeom>
          <a:noFill/>
          <a:ln w="6350">
            <a:solidFill>
              <a:srgbClr val="E8D0DC"/>
            </a:solidFill>
            <a:prstDash val="solid"/>
          </a:ln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2331720"/>
            <a:ext cx="228600" cy="228600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6629400" y="23042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2"/>
                </a:solidFill>
              </a:rPr>
              <a:t>+91 98765 43210</a:t>
            </a:r>
            <a:endParaRPr lang="en-US" sz="1050" dirty="0"/>
          </a:p>
        </p:txBody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2697480"/>
            <a:ext cx="228600" cy="228600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6629400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2"/>
                </a:solidFill>
              </a:rPr>
              <a:t>hello@euphoria.com</a:t>
            </a:r>
            <a:endParaRPr lang="en-US" sz="1050" dirty="0"/>
          </a:p>
        </p:txBody>
      </p:sp>
      <p:sp>
        <p:nvSpPr>
          <p:cNvPr id="59" name="Shape 44"/>
          <p:cNvSpPr/>
          <p:nvPr/>
        </p:nvSpPr>
        <p:spPr>
          <a:xfrm>
            <a:off x="6309360" y="3063240"/>
            <a:ext cx="2468880" cy="0"/>
          </a:xfrm>
          <a:prstGeom prst="line">
            <a:avLst/>
          </a:prstGeom>
          <a:noFill/>
          <a:ln w="6350">
            <a:solidFill>
              <a:srgbClr val="E8D0DC"/>
            </a:solidFill>
            <a:prstDash val="solid"/>
          </a:ln>
        </p:spPr>
      </p:sp>
      <p:sp>
        <p:nvSpPr>
          <p:cNvPr id="60" name="Text 45"/>
          <p:cNvSpPr/>
          <p:nvPr/>
        </p:nvSpPr>
        <p:spPr>
          <a:xfrm>
            <a:off x="6309360" y="3154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5868"/>
                </a:solidFill>
              </a:rPr>
              <a:t>Operating hours</a:t>
            </a:r>
            <a:endParaRPr lang="en-US" sz="1000" dirty="0"/>
          </a:p>
        </p:txBody>
      </p:sp>
      <p:sp>
        <p:nvSpPr>
          <p:cNvPr id="61" name="Text 46"/>
          <p:cNvSpPr/>
          <p:nvPr/>
        </p:nvSpPr>
        <p:spPr>
          <a:xfrm>
            <a:off x="6309360" y="34015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0A12"/>
                </a:solidFill>
              </a:rPr>
              <a:t>Mon–Fri, 9 am to 6 pm IST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C94B7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B7B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Product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94B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4023360" cy="45720"/>
          </a:xfrm>
          <a:prstGeom prst="rect">
            <a:avLst/>
          </a:prstGeom>
          <a:solidFill>
            <a:srgbClr val="C94B7B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C94B7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budget planner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5819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B7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Instant vendor-rate quotes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1856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B7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Live configuration progress bar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21305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B7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Baseline estimate before booking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24048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B7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Custom-engineered to budget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051560"/>
            <a:ext cx="4023360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E6E5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1051560"/>
            <a:ext cx="4023360" cy="45720"/>
          </a:xfrm>
          <a:prstGeom prst="rect">
            <a:avLst/>
          </a:prstGeom>
          <a:solidFill>
            <a:srgbClr val="0E6E59"/>
          </a:solidFill>
          <a:ln/>
        </p:spPr>
      </p:sp>
      <p:sp>
        <p:nvSpPr>
          <p:cNvPr id="16" name="Shape 13"/>
          <p:cNvSpPr/>
          <p:nvPr/>
        </p:nvSpPr>
        <p:spPr>
          <a:xfrm>
            <a:off x="4892040" y="1234440"/>
            <a:ext cx="457200" cy="457200"/>
          </a:xfrm>
          <a:prstGeom prst="ellipse">
            <a:avLst/>
          </a:prstGeom>
          <a:solidFill>
            <a:srgbClr val="0E6E5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29844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68112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100% secrecy guarantee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92040" y="15819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59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All logistics handled behind the scenes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92040" y="1856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59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Surprise is never spoiled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92040" y="21305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59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Core brand differentiator vs. DIY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92040" y="24048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59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Vendor coordination is invisible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7200" y="2971800"/>
            <a:ext cx="4023360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4883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7200" y="2971800"/>
            <a:ext cx="4023360" cy="45720"/>
          </a:xfrm>
          <a:prstGeom prst="rect">
            <a:avLst/>
          </a:prstGeom>
          <a:solidFill>
            <a:srgbClr val="C4883A"/>
          </a:solidFill>
          <a:ln/>
        </p:spPr>
      </p:sp>
      <p:sp>
        <p:nvSpPr>
          <p:cNvPr id="25" name="Shape 21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C4883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18688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70432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VIP giveaway (1 per 50)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94360" y="35021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883A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One free premium event every 50 bookings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94360" y="37764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883A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Random winner from client pool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94360" y="40507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883A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Live milestone counter (42/50)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94360" y="43251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883A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Powerful retention &amp; referral loop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44558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754880" y="2971800"/>
            <a:ext cx="4023360" cy="45720"/>
          </a:xfrm>
          <a:prstGeom prst="rect">
            <a:avLst/>
          </a:prstGeom>
          <a:solidFill>
            <a:srgbClr val="445588"/>
          </a:solidFill>
          <a:ln/>
        </p:spPr>
      </p:sp>
      <p:sp>
        <p:nvSpPr>
          <p:cNvPr id="34" name="Shape 29"/>
          <p:cNvSpPr/>
          <p:nvPr/>
        </p:nvSpPr>
        <p:spPr>
          <a:xfrm>
            <a:off x="4892040" y="3154680"/>
            <a:ext cx="457200" cy="457200"/>
          </a:xfrm>
          <a:prstGeom prst="ellipse">
            <a:avLst/>
          </a:prstGeom>
          <a:solidFill>
            <a:srgbClr val="445588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218688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68112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 profile &amp; auth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892040" y="35021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5588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Full sign-up / login system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4892040" y="37764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5588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15% guaranteed savings on register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892040" y="40507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5588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Concierge access for members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4892040" y="43251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5588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D0C0C8"/>
                </a:solidFill>
              </a:rPr>
              <a:t>Winner-pool eligibility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4B7B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FAD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868"/>
                </a:solidFill>
              </a:rPr>
              <a:t>9 passionate specialists working behind the scenes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444752"/>
            <a:ext cx="566928" cy="566928"/>
          </a:xfrm>
          <a:prstGeom prst="ellipse">
            <a:avLst/>
          </a:prstGeom>
          <a:solidFill>
            <a:srgbClr val="C94B7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298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12"/>
                </a:solidFill>
              </a:rPr>
              <a:t>Kirankumar Reddy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34440" y="16093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868"/>
                </a:solidFill>
              </a:rPr>
              <a:t>Lead Planner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47288" y="1444752"/>
            <a:ext cx="566928" cy="566928"/>
          </a:xfrm>
          <a:prstGeom prst="ellipse">
            <a:avLst/>
          </a:prstGeom>
          <a:solidFill>
            <a:srgbClr val="A0336E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1298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12"/>
                </a:solidFill>
              </a:rPr>
              <a:t>Chithra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16093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868"/>
                </a:solidFill>
              </a:rPr>
              <a:t>Decor &amp; Experience Designer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1444752"/>
            <a:ext cx="566928" cy="566928"/>
          </a:xfrm>
          <a:prstGeom prst="ellipse">
            <a:avLst/>
          </a:prstGeom>
          <a:solidFill>
            <a:srgbClr val="0E6E59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1298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12"/>
                </a:solidFill>
              </a:rPr>
              <a:t>Ramya Sree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95160" y="16093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868"/>
                </a:solidFill>
              </a:rPr>
              <a:t>Floral Stylist &amp; Coordinator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42316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2679192"/>
            <a:ext cx="566928" cy="566928"/>
          </a:xfrm>
          <a:prstGeom prst="ellipse">
            <a:avLst/>
          </a:prstGeom>
          <a:solidFill>
            <a:srgbClr val="C4883A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25328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12"/>
                </a:solidFill>
              </a:rPr>
              <a:t>Ajay Kumar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234440" y="2843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868"/>
                </a:solidFill>
              </a:rPr>
              <a:t>Venue &amp; Vendor Coordinator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37560" y="242316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47288" y="2679192"/>
            <a:ext cx="566928" cy="566928"/>
          </a:xfrm>
          <a:prstGeom prst="ellipse">
            <a:avLst/>
          </a:prstGeom>
          <a:solidFill>
            <a:srgbClr val="663388"/>
          </a:solidFill>
          <a:ln/>
        </p:spPr>
      </p:sp>
      <p:sp>
        <p:nvSpPr>
          <p:cNvPr id="28" name="Text 26"/>
          <p:cNvSpPr/>
          <p:nvPr/>
        </p:nvSpPr>
        <p:spPr>
          <a:xfrm>
            <a:off x="3447288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25328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12"/>
                </a:solidFill>
              </a:rPr>
              <a:t>Sumasree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0" y="2843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868"/>
                </a:solidFill>
              </a:rPr>
              <a:t>Guest Experience &amp; Hospitality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242316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27648" y="2679192"/>
            <a:ext cx="566928" cy="566928"/>
          </a:xfrm>
          <a:prstGeom prst="ellipse">
            <a:avLst/>
          </a:prstGeom>
          <a:solidFill>
            <a:srgbClr val="C94B2B"/>
          </a:solidFill>
          <a:ln/>
        </p:spPr>
      </p:sp>
      <p:sp>
        <p:nvSpPr>
          <p:cNvPr id="33" name="Text 31"/>
          <p:cNvSpPr/>
          <p:nvPr/>
        </p:nvSpPr>
        <p:spPr>
          <a:xfrm>
            <a:off x="6327648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25328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12"/>
                </a:solidFill>
              </a:rPr>
              <a:t>Purnima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95160" y="2843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868"/>
                </a:solidFill>
              </a:rPr>
              <a:t>Creative &amp; Visual Director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65760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6928" y="3913632"/>
            <a:ext cx="566928" cy="566928"/>
          </a:xfrm>
          <a:prstGeom prst="ellipse">
            <a:avLst/>
          </a:prstGeom>
          <a:solidFill>
            <a:srgbClr val="1A6A88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34440" y="3767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12"/>
                </a:solidFill>
              </a:rPr>
              <a:t>Aneesha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234440" y="407822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868"/>
                </a:solidFill>
              </a:rPr>
              <a:t>PR &amp; Media Manager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37560" y="365760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47288" y="3913632"/>
            <a:ext cx="566928" cy="566928"/>
          </a:xfrm>
          <a:prstGeom prst="ellipse">
            <a:avLst/>
          </a:prstGeom>
          <a:solidFill>
            <a:srgbClr val="336644"/>
          </a:solidFill>
          <a:ln/>
        </p:spPr>
      </p:sp>
      <p:sp>
        <p:nvSpPr>
          <p:cNvPr id="43" name="Text 41"/>
          <p:cNvSpPr/>
          <p:nvPr/>
        </p:nvSpPr>
        <p:spPr>
          <a:xfrm>
            <a:off x="3447288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14800" y="3767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12"/>
                </a:solidFill>
              </a:rPr>
              <a:t>Maneesh Kumar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114800" y="407822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868"/>
                </a:solidFill>
              </a:rPr>
              <a:t>Operations &amp; Logistics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365760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27648" y="3913632"/>
            <a:ext cx="566928" cy="566928"/>
          </a:xfrm>
          <a:prstGeom prst="ellipse">
            <a:avLst/>
          </a:prstGeom>
          <a:solidFill>
            <a:srgbClr val="775522"/>
          </a:solidFill>
          <a:ln/>
        </p:spPr>
      </p:sp>
      <p:sp>
        <p:nvSpPr>
          <p:cNvPr id="48" name="Text 46"/>
          <p:cNvSpPr/>
          <p:nvPr/>
        </p:nvSpPr>
        <p:spPr>
          <a:xfrm>
            <a:off x="6327648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95160" y="3767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12"/>
                </a:solidFill>
              </a:rPr>
              <a:t>Vinay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995160" y="407822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868"/>
                </a:solidFill>
              </a:rPr>
              <a:t>Lead Photographer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883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883A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4864" cy="822960"/>
          </a:xfrm>
          <a:prstGeom prst="rect">
            <a:avLst/>
          </a:prstGeom>
          <a:solidFill>
            <a:srgbClr val="C94B7B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05840"/>
            <a:ext cx="832104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97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4B7B"/>
                </a:solidFill>
              </a:rPr>
              <a:t>POSITIONING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33502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68"/>
                </a:solidFill>
              </a:rPr>
              <a:t>Euphoria occupies the 'emotional experience economy' niche — not just event logistics but deeply personal memory-making. The brand language of warmth and secrecy strongly differentiates it from generic booking platforms.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54864" cy="822960"/>
          </a:xfrm>
          <a:prstGeom prst="rect">
            <a:avLst/>
          </a:prstGeom>
          <a:solidFill>
            <a:srgbClr val="C4883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011680"/>
            <a:ext cx="832104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4883A"/>
                </a:solidFill>
              </a:rPr>
              <a:t>REVENUE MODEL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34086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68"/>
                </a:solidFill>
              </a:rPr>
              <a:t>Likely a service-fee or vendor-commission model on bookings, with upsell via premium packages. The 15% discount in exchange for profile sign-up is an effective lead-capture and conversion mechanism.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54864" cy="822960"/>
          </a:xfrm>
          <a:prstGeom prst="rect">
            <a:avLst/>
          </a:prstGeom>
          <a:solidFill>
            <a:srgbClr val="0E6E59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017520"/>
            <a:ext cx="832104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6E59"/>
                </a:solidFill>
              </a:rPr>
              <a:t>GROWTH LEVER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33467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68"/>
                </a:solidFill>
              </a:rPr>
              <a:t>The VIP giveaway (1 winner per 50 bookings) creates a built-in viral loop — clients are incentivised to return and refer others. Currently at 42/50, the next draw is imminent, creating urgency.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54864" cy="822960"/>
          </a:xfrm>
          <a:prstGeom prst="rect">
            <a:avLst/>
          </a:prstGeom>
          <a:solidFill>
            <a:srgbClr val="44558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4023360"/>
            <a:ext cx="832104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8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14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45588"/>
                </a:solidFill>
              </a:rPr>
              <a:t>MARKET FIT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43525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868"/>
                </a:solidFill>
              </a:rPr>
              <a:t>HQ in Bengaluru with pan-India reach across 10 metros plus Tier-2 leisure destinations. Strong fit for India's growing urban gifting and experiential spending market.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8B2252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B7B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8686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94B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C94B7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0A0"/>
                </a:solidFill>
              </a:rPr>
              <a:t>React framework (SSR + SSG)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743200" cy="8686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1A9F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97280"/>
            <a:ext cx="2743200" cy="45720"/>
          </a:xfrm>
          <a:prstGeom prst="rect">
            <a:avLst/>
          </a:prstGeom>
          <a:solidFill>
            <a:srgbClr val="1A9FD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16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Vercel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0A0"/>
                </a:solidFill>
              </a:rPr>
              <a:t>Cloud hosting &amp; deployment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743200" cy="8686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97280"/>
            <a:ext cx="2743200" cy="4572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216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0A0"/>
                </a:solidFill>
              </a:rPr>
              <a:t>Component-based UI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2743200" cy="8686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488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148840"/>
            <a:ext cx="2743200" cy="45720"/>
          </a:xfrm>
          <a:prstGeom prst="rect">
            <a:avLst/>
          </a:prstGeom>
          <a:solidFill>
            <a:srgbClr val="C4883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 auth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2624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0A0"/>
                </a:solidFill>
              </a:rPr>
              <a:t>Sign-up / login system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743200" cy="8686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E6E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2148840"/>
            <a:ext cx="2743200" cy="45720"/>
          </a:xfrm>
          <a:prstGeom prst="rect">
            <a:avLst/>
          </a:prstGeom>
          <a:solidFill>
            <a:srgbClr val="0E6E59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estimator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2624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0A0"/>
                </a:solidFill>
              </a:rPr>
              <a:t>Live budget calculation engine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2148840"/>
            <a:ext cx="2743200" cy="8686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9955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148840"/>
            <a:ext cx="2743200" cy="45720"/>
          </a:xfrm>
          <a:prstGeom prst="rect">
            <a:avLst/>
          </a:prstGeom>
          <a:solidFill>
            <a:srgbClr val="9955CC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next/image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624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0A0"/>
                </a:solidFill>
              </a:rPr>
              <a:t>Optimised image delivery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8B225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3708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8D0"/>
                </a:solidFill>
              </a:rPr>
              <a:t>Euphoria · nascoders-event-platform.vercel.app · hello@euphoria.com · +91 98765 43210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8090"/>
                </a:solidFill>
              </a:rPr>
              <a:t>© 2026 Euphoria Surprise Planners. All rights reserved.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Euphoria — Event Platform</dc:title>
  <dc:subject>PptxGenJS Presentation</dc:subject>
  <dc:creator>Euphoria Analysis</dc:creator>
  <cp:lastModifiedBy>Euphoria Analysis</cp:lastModifiedBy>
  <cp:revision>1</cp:revision>
  <dcterms:created xsi:type="dcterms:W3CDTF">2026-05-25T02:31:46Z</dcterms:created>
  <dcterms:modified xsi:type="dcterms:W3CDTF">2026-05-25T02:31:46Z</dcterms:modified>
</cp:coreProperties>
</file>